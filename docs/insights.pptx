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Libre Baskerville" panose="02000000000000000000" pitchFamily="2" charset="0"/>
      <p:regular r:id="rId10"/>
    </p:embeddedFont>
    <p:embeddedFont>
      <p:font typeface="Open Sans" panose="020B0606030504020204" pitchFamily="34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92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65038"/>
            <a:ext cx="123897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🏦</a:t>
            </a: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Retail Banking BI Dashboard – Q1 2024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13979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Branch Performance | Digital Adoption | Customer Segmentation | Account Position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8358"/>
            <a:ext cx="470975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Executive Summary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942148"/>
            <a:ext cx="3661648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📈</a:t>
            </a: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Key Q1 Highlights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7152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2757726"/>
            <a:ext cx="340162" cy="4252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278892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account balances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reached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£14M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all 6 branches by quarter-end.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6791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3721656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0906" y="375285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Canary Wharf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led in account balances, account openings and transaction volumes.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793790" y="46430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4685586"/>
            <a:ext cx="340162" cy="4252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30906" y="471678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 accounts represented only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2.3%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(5 of 217) of accounts opened this quarter.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560701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5649516"/>
            <a:ext cx="340162" cy="4252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568071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97 customers (5.5%)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were classified as “Silent Wealthy” (low activity, high balance).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93790" y="65709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6613446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30906" y="664464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Branch transactions outnumbered digital by a factor of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2.1×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highlighting digital lag.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329" y="569833"/>
            <a:ext cx="6585942" cy="51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Branch Performance Overview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25329" y="1295043"/>
            <a:ext cx="5208984" cy="396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💰</a:t>
            </a: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Total Balance &amp; Daily Activity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29" y="2235160"/>
            <a:ext cx="4075986" cy="381988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590" y="2235160"/>
            <a:ext cx="6337102" cy="39321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6201" y="6866692"/>
            <a:ext cx="12868870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📈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Canary Wharf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consistently led in account balances and transactions, contributing the highest share of both average daily and quarter-end balances.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25329" y="6633567"/>
            <a:ext cx="22860" cy="1144667"/>
          </a:xfrm>
          <a:prstGeom prst="rect">
            <a:avLst/>
          </a:prstGeom>
          <a:solidFill>
            <a:srgbClr val="403CC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519" y="570905"/>
            <a:ext cx="4152067" cy="518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Account Overview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26519" y="1297305"/>
            <a:ext cx="5121473" cy="39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📊</a:t>
            </a:r>
            <a:r>
              <a:rPr lang="en-US" sz="2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Account Base &amp; Q1 Openings</a:t>
            </a:r>
            <a:endParaRPr lang="en-US" sz="24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553" y="2238851"/>
            <a:ext cx="3795697" cy="51868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70759" y="3991451"/>
            <a:ext cx="784062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217 new accounts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opened in Q1 2024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70759" y="4396264"/>
            <a:ext cx="784062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</a:t>
            </a:r>
            <a:r>
              <a:rPr lang="en-US" sz="16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Premium accounts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opened — an underutilized opportunity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82107" y="4961930"/>
            <a:ext cx="752927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Growth was driven by </a:t>
            </a:r>
            <a:r>
              <a:rPr lang="en-US" sz="16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savings and current accounts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strong candidates for </a:t>
            </a:r>
            <a:r>
              <a:rPr lang="en-US" sz="16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 conversion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upsell campaigns.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70759" y="4961930"/>
            <a:ext cx="22860" cy="664369"/>
          </a:xfrm>
          <a:prstGeom prst="rect">
            <a:avLst/>
          </a:prstGeom>
          <a:solidFill>
            <a:srgbClr val="403CC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513" y="681871"/>
            <a:ext cx="4324826" cy="479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Channel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71513" y="1353264"/>
            <a:ext cx="4268748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🧭</a:t>
            </a: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Digital vs. Branch Insights</a:t>
            </a:r>
            <a:endParaRPr lang="en-US" sz="22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42574" y="2224087"/>
            <a:ext cx="2333537" cy="32855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589" y="5522000"/>
            <a:ext cx="6409611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Tornado chart: transaction count vs. volume by channel.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873" y="2224087"/>
            <a:ext cx="4818102" cy="30821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0789" y="5368469"/>
            <a:ext cx="6409611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Side-by-side bar: digital vs. branch usage per branch.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59287" y="7024926"/>
            <a:ext cx="12999601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r>
              <a:rPr lang="en-US" sz="1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2:1 branch-to-digital ratio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indicates branches where targeted digital adoption efforts can drive operational efficiency and cost reduction.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71513" y="6809184"/>
            <a:ext cx="22860" cy="738545"/>
          </a:xfrm>
          <a:prstGeom prst="rect">
            <a:avLst/>
          </a:prstGeom>
          <a:solidFill>
            <a:srgbClr val="403CC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226" y="1440418"/>
            <a:ext cx="6346031" cy="47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Segments &amp; Targeting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7226" y="2107525"/>
            <a:ext cx="3026688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🎯</a:t>
            </a: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Segment Strategy</a:t>
            </a:r>
            <a:endParaRPr lang="en-US" sz="22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8780" y="738664"/>
            <a:ext cx="3699765" cy="24281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226" y="3595688"/>
            <a:ext cx="13295948" cy="3185993"/>
          </a:xfrm>
          <a:prstGeom prst="roundRect">
            <a:avLst>
              <a:gd name="adj" fmla="val 8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4846" y="3603308"/>
            <a:ext cx="13280708" cy="8689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65584" y="3725227"/>
            <a:ext cx="293512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Silent Wealthy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89571" y="3725227"/>
            <a:ext cx="4923353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balance, low activity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501783" y="3725227"/>
            <a:ext cx="4263152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💼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Wealth management, deposits, insurance, investment products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4846" y="4472225"/>
            <a:ext cx="13280708" cy="6859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65584" y="4594146"/>
            <a:ext cx="293512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Engaged Premium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189571" y="4594146"/>
            <a:ext cx="4923353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balance, high activity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501783" y="4500000"/>
            <a:ext cx="4046942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📈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Credit cards, investments, loyalty rewards,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consumer loans</a:t>
            </a:r>
          </a:p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74846" y="5036225"/>
            <a:ext cx="13280708" cy="8689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65584" y="5158145"/>
            <a:ext cx="293512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 Low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189571" y="5158145"/>
            <a:ext cx="4923353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balance, high activity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501783" y="5158145"/>
            <a:ext cx="4263152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💳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Debit card rewards, overdraft, mobile banking features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74846" y="5905143"/>
            <a:ext cx="13280708" cy="7469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65584" y="6027063"/>
            <a:ext cx="293512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Dormant Low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189571" y="6027063"/>
            <a:ext cx="4923353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balance, low activity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501783" y="6027063"/>
            <a:ext cx="4263152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📣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Awareness campaigns, potential cleanup or conversion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53095" y="7210544"/>
            <a:ext cx="13010078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🧠</a:t>
            </a: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Segmentation enables targeted, personalized engagement — improving marketing efficiency and customer ROI.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67226" y="6996113"/>
            <a:ext cx="22860" cy="749022"/>
          </a:xfrm>
          <a:prstGeom prst="rect">
            <a:avLst/>
          </a:prstGeom>
          <a:solidFill>
            <a:srgbClr val="403CC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882" y="604957"/>
            <a:ext cx="7267575" cy="54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Recommendations &amp; Next Steps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66882" y="1371838"/>
            <a:ext cx="3306961" cy="410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✅</a:t>
            </a: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Strategic Actions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82" y="2409468"/>
            <a:ext cx="4219456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878" y="2111335"/>
            <a:ext cx="657344" cy="6573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5045" y="2275642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016437" y="2987635"/>
            <a:ext cx="3720346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Tap into Silent Wealthy Customers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016437" y="3803690"/>
            <a:ext cx="3720346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high-touch offers: concierge banking, priority services.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413" y="2409468"/>
            <a:ext cx="4219456" cy="12192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409" y="2111335"/>
            <a:ext cx="657344" cy="6573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83576" y="2275642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5454968" y="2987635"/>
            <a:ext cx="3720346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Digital Adoption to Reduce Branch Loads 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5454968" y="3803690"/>
            <a:ext cx="372034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digital education and mobile-first incentives in underperforming branches.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943" y="2409468"/>
            <a:ext cx="4219456" cy="12192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4940" y="2111335"/>
            <a:ext cx="657344" cy="6573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622107" y="2275642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endParaRPr lang="en-US" sz="2050" dirty="0"/>
          </a:p>
        </p:txBody>
      </p:sp>
      <p:sp>
        <p:nvSpPr>
          <p:cNvPr id="17" name="Text 9"/>
          <p:cNvSpPr/>
          <p:nvPr/>
        </p:nvSpPr>
        <p:spPr>
          <a:xfrm>
            <a:off x="9893498" y="2987635"/>
            <a:ext cx="3720346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Upsell to Active Savings Customers</a:t>
            </a:r>
            <a:endParaRPr lang="en-US" sz="2150" dirty="0"/>
          </a:p>
        </p:txBody>
      </p:sp>
      <p:sp>
        <p:nvSpPr>
          <p:cNvPr id="18" name="Text 10"/>
          <p:cNvSpPr/>
          <p:nvPr/>
        </p:nvSpPr>
        <p:spPr>
          <a:xfrm>
            <a:off x="9893498" y="3803690"/>
            <a:ext cx="372034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high-usage savings accounts to premium or bundled financial products.</a:t>
            </a:r>
            <a:endParaRPr lang="en-US" sz="17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82" y="5622012"/>
            <a:ext cx="6438662" cy="12192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5323880"/>
            <a:ext cx="657344" cy="65734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854708" y="5488186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endParaRPr lang="en-US" sz="2050" dirty="0"/>
          </a:p>
        </p:txBody>
      </p:sp>
      <p:sp>
        <p:nvSpPr>
          <p:cNvPr id="22" name="Text 12"/>
          <p:cNvSpPr/>
          <p:nvPr/>
        </p:nvSpPr>
        <p:spPr>
          <a:xfrm>
            <a:off x="1349216" y="6200180"/>
            <a:ext cx="527399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Reinforce High-Performing Branches</a:t>
            </a:r>
            <a:endParaRPr lang="en-US" sz="2150" dirty="0"/>
          </a:p>
        </p:txBody>
      </p:sp>
      <p:sp>
        <p:nvSpPr>
          <p:cNvPr id="23" name="Text 13"/>
          <p:cNvSpPr/>
          <p:nvPr/>
        </p:nvSpPr>
        <p:spPr>
          <a:xfrm>
            <a:off x="1016437" y="6673929"/>
            <a:ext cx="593955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Canary Wharf should be supported with increased staffing and high-value product training.</a:t>
            </a:r>
            <a:endParaRPr lang="en-US" sz="17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618" y="5622012"/>
            <a:ext cx="6438781" cy="121920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277" y="5323880"/>
            <a:ext cx="657344" cy="65734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0512445" y="5488186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endParaRPr lang="en-US" sz="2050" dirty="0"/>
          </a:p>
        </p:txBody>
      </p:sp>
      <p:sp>
        <p:nvSpPr>
          <p:cNvPr id="27" name="Text 15"/>
          <p:cNvSpPr/>
          <p:nvPr/>
        </p:nvSpPr>
        <p:spPr>
          <a:xfrm>
            <a:off x="8615363" y="6200180"/>
            <a:ext cx="405729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Embed Segment Intelligence</a:t>
            </a:r>
            <a:endParaRPr lang="en-US" sz="2150" dirty="0"/>
          </a:p>
        </p:txBody>
      </p:sp>
      <p:sp>
        <p:nvSpPr>
          <p:cNvPr id="28" name="Text 16"/>
          <p:cNvSpPr/>
          <p:nvPr/>
        </p:nvSpPr>
        <p:spPr>
          <a:xfrm>
            <a:off x="7674173" y="6673929"/>
            <a:ext cx="5939671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segmentation logic into CRM tools for proactive cross-sell/retention.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Microsoft Office PowerPoint</Application>
  <PresentationFormat>Custom</PresentationFormat>
  <Paragraphs>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Open Sans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Navin Suresh</cp:lastModifiedBy>
  <cp:revision>23</cp:revision>
  <dcterms:created xsi:type="dcterms:W3CDTF">2025-07-14T14:46:10Z</dcterms:created>
  <dcterms:modified xsi:type="dcterms:W3CDTF">2025-09-15T12:56:50Z</dcterms:modified>
</cp:coreProperties>
</file>